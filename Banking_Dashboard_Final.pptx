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E7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960120"/>
            <a:ext cx="109728" cy="4480560"/>
          </a:xfrm>
          <a:prstGeom prst="rect">
            <a:avLst/>
          </a:prstGeom>
          <a:solidFill>
            <a:srgbClr val="EE7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1115568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BACFE1"/>
                </a:solidFill>
                <a:latin typeface="Aptos"/>
              </a:rPr>
              <a:t>POWER BI  /  BANKING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72768"/>
            <a:ext cx="6217920" cy="160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"/>
              </a:rPr>
              <a:t>Banking
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3401568"/>
            <a:ext cx="6035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D1DEEA"/>
                </a:solidFill>
                <a:latin typeface="Aptos"/>
              </a:rPr>
              <a:t>Loan • Deposits • Customer &amp; Financial KPIs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170432"/>
            <a:ext cx="3886200" cy="4526280"/>
          </a:xfrm>
          <a:prstGeom prst="roundRect">
            <a:avLst/>
          </a:prstGeom>
          <a:solidFill>
            <a:srgbClr val="18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536192"/>
            <a:ext cx="3154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B4CADC"/>
                </a:solidFill>
                <a:latin typeface="Aptos"/>
              </a:rPr>
              <a:t>DASHBOARD AT A GLANCE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90688" y="1993392"/>
            <a:ext cx="3200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90688" y="1993392"/>
            <a:ext cx="68580" cy="960120"/>
          </a:xfrm>
          <a:prstGeom prst="roundRect">
            <a:avLst/>
          </a:prstGeom>
          <a:solidFill>
            <a:srgbClr val="EE7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9" y="2157984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697787"/>
                </a:solidFill>
                <a:latin typeface="Aptos"/>
              </a:rPr>
              <a:t>TOTAL LOAN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9" y="2505456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0C1C30"/>
                </a:solidFill>
                <a:latin typeface="Aptos"/>
              </a:rPr>
              <a:t>$139.9M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90688" y="3182112"/>
            <a:ext cx="3200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90688" y="3182112"/>
            <a:ext cx="68580" cy="960120"/>
          </a:xfrm>
          <a:prstGeom prst="roundRect">
            <a:avLst/>
          </a:prstGeom>
          <a:solidFill>
            <a:srgbClr val="2B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3346704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697787"/>
                </a:solidFill>
                <a:latin typeface="Aptos"/>
              </a:rPr>
              <a:t>TOTAL DEPOSIT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3694176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0C1C30"/>
                </a:solidFill>
                <a:latin typeface="Aptos"/>
              </a:rPr>
              <a:t>$111.49M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90688" y="4370832"/>
            <a:ext cx="3200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90688" y="4370832"/>
            <a:ext cx="68580" cy="960120"/>
          </a:xfrm>
          <a:prstGeom prst="roundRect">
            <a:avLst/>
          </a:prstGeom>
          <a:solidFill>
            <a:srgbClr val="5BA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9" y="4535424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697787"/>
                </a:solidFill>
                <a:latin typeface="Aptos"/>
              </a:rPr>
              <a:t>TOTAL FEES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9" y="4882896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0C1C30"/>
                </a:solidFill>
                <a:latin typeface="Aptos"/>
              </a:rPr>
              <a:t>$5.17M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446520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B7C7D6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EE703D"/>
                </a:solidFill>
                <a:latin typeface="Aptos"/>
              </a:rPr>
              <a:t>01 /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698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C1C30"/>
                </a:solidFill>
                <a:latin typeface="Aptos"/>
              </a:rPr>
              <a:t>What this project delivers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188720"/>
            <a:ext cx="10515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697787"/>
                </a:solidFill>
                <a:latin typeface="Aptos"/>
              </a:rPr>
              <a:t>A concise banking analytics view built around the supplied dataset and Power BI dashboard.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" y="1627632"/>
            <a:ext cx="713232" cy="50292"/>
          </a:xfrm>
          <a:prstGeom prst="rect">
            <a:avLst/>
          </a:prstGeom>
          <a:solidFill>
            <a:srgbClr val="EE7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3657600" cy="3566160"/>
          </a:xfrm>
          <a:prstGeom prst="roundRect">
            <a:avLst/>
          </a:prstGeom>
          <a:solidFill>
            <a:srgbClr val="0C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33172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BACFE1"/>
                </a:solidFill>
                <a:latin typeface="Aptos"/>
              </a:rPr>
              <a:t>THE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788920"/>
            <a:ext cx="292608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Turn banking data into a clear, interactive view of loans, deposits and customer-level financial metrics.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965960"/>
            <a:ext cx="68122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228600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EE703D"/>
                </a:solidFill>
                <a:latin typeface="Aptos"/>
              </a:rPr>
              <a:t>ANALYSIS AREAS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0912" y="2761488"/>
            <a:ext cx="5897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73341"/>
                </a:solidFill>
                <a:latin typeface="Aptos"/>
              </a:rPr>
              <a:t>•  Loan analysis across banking relationships, income bands and nationality.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10912" y="3502152"/>
            <a:ext cx="5897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73341"/>
                </a:solidFill>
                <a:latin typeface="Aptos"/>
              </a:rPr>
              <a:t>•  Deposit analysis across bank deposits, savings, checking and foreign currency accounts.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0912" y="4315968"/>
            <a:ext cx="5897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73341"/>
                </a:solidFill>
                <a:latin typeface="Aptos"/>
              </a:rPr>
              <a:t>•  Summary KPIs for clients, loans, deposits, fees and account balances.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46520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697787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EE703D"/>
                </a:solidFill>
                <a:latin typeface="Aptos"/>
              </a:rPr>
              <a:t>02 /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698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C1C30"/>
                </a:solidFill>
                <a:latin typeface="Aptos"/>
              </a:rPr>
              <a:t>From raw data to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188720"/>
            <a:ext cx="10515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697787"/>
                </a:solidFill>
                <a:latin typeface="Aptos"/>
              </a:rPr>
              <a:t>The project combines banking data with derived fields and DAX measures.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" y="1627632"/>
            <a:ext cx="713232" cy="50292"/>
          </a:xfrm>
          <a:prstGeom prst="rect">
            <a:avLst/>
          </a:prstGeom>
          <a:solidFill>
            <a:srgbClr val="EE7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248716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41832" y="2212848"/>
            <a:ext cx="502920" cy="502920"/>
          </a:xfrm>
          <a:prstGeom prst="roundRect">
            <a:avLst/>
          </a:prstGeom>
          <a:solidFill>
            <a:srgbClr val="0C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24028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907792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C1C30"/>
                </a:solidFill>
                <a:latin typeface="Aptos"/>
              </a:rPr>
              <a:t>Banking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456432"/>
            <a:ext cx="19659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97787"/>
                </a:solidFill>
                <a:latin typeface="Aptos"/>
              </a:rPr>
              <a:t>Client, loan, deposit &amp; account fields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7832" y="3154680"/>
            <a:ext cx="228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EE703D"/>
                </a:solidFill>
                <a:latin typeface="Aptos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2152" y="1920240"/>
            <a:ext cx="248716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58184" y="2212848"/>
            <a:ext cx="502920" cy="502920"/>
          </a:xfrm>
          <a:prstGeom prst="roundRect">
            <a:avLst/>
          </a:prstGeom>
          <a:solidFill>
            <a:srgbClr val="0C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58184" y="224028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8184" y="2907792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C1C30"/>
                </a:solidFill>
                <a:latin typeface="Aptos"/>
              </a:rPr>
              <a:t>Derived fields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58184" y="3456432"/>
            <a:ext cx="19659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97787"/>
                </a:solidFill>
                <a:latin typeface="Aptos"/>
              </a:rPr>
              <a:t>Engagement Days • Income Band • Processing Fees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44183" y="3154680"/>
            <a:ext cx="228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EE703D"/>
                </a:solidFill>
                <a:latin typeface="Aptos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18504" y="1920240"/>
            <a:ext cx="248716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74536" y="2212848"/>
            <a:ext cx="502920" cy="502920"/>
          </a:xfrm>
          <a:prstGeom prst="roundRect">
            <a:avLst/>
          </a:prstGeom>
          <a:solidFill>
            <a:srgbClr val="0C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74536" y="224028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74536" y="2907792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C1C30"/>
                </a:solidFill>
                <a:latin typeface="Aptos"/>
              </a:rPr>
              <a:t>DAX measures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4536" y="3456432"/>
            <a:ext cx="19659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97787"/>
                </a:solidFill>
                <a:latin typeface="Aptos"/>
              </a:rPr>
              <a:t>SUM • DISTINCTCOUNT • SUMX • SWITCH • DATEDIFF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0536" y="3154680"/>
            <a:ext cx="228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EE703D"/>
                </a:solidFill>
                <a:latin typeface="Aptos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34856" y="1920240"/>
            <a:ext cx="248716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390888" y="2212848"/>
            <a:ext cx="502920" cy="502920"/>
          </a:xfrm>
          <a:prstGeom prst="roundRect">
            <a:avLst/>
          </a:prstGeom>
          <a:solidFill>
            <a:srgbClr val="0C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90888" y="224028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90888" y="2907792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C1C30"/>
                </a:solidFill>
                <a:latin typeface="Aptos"/>
              </a:rPr>
              <a:t>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90888" y="3456432"/>
            <a:ext cx="19659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97787"/>
                </a:solidFill>
                <a:latin typeface="Aptos"/>
              </a:rPr>
              <a:t>Loan • Deposit • Summary • Drill-through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486400"/>
            <a:ext cx="10789920" cy="530352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559552"/>
            <a:ext cx="10332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0C1C30"/>
                </a:solidFill>
                <a:latin typeface="Aptos"/>
              </a:rPr>
              <a:t>The supplied report documents Engagement Days, Income Band and Processing Fees as derived fields.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18520" y="6446520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697787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EE703D"/>
                </a:solidFill>
                <a:latin typeface="Aptos"/>
              </a:rPr>
              <a:t>03 /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698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C1C30"/>
                </a:solidFill>
                <a:latin typeface="Aptos"/>
              </a:rPr>
              <a:t>The Power BI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188720"/>
            <a:ext cx="10515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697787"/>
                </a:solidFill>
                <a:latin typeface="Aptos"/>
              </a:rPr>
              <a:t>Interactive pages organize the analysis into a simple navigation 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" y="1627632"/>
            <a:ext cx="713232" cy="50292"/>
          </a:xfrm>
          <a:prstGeom prst="rect">
            <a:avLst/>
          </a:prstGeom>
          <a:solidFill>
            <a:srgbClr val="EE7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4864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ome_as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975104"/>
            <a:ext cx="5120640" cy="3611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18520" y="6446520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697787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B4C9DC"/>
                </a:solidFill>
                <a:latin typeface="Aptos"/>
              </a:rPr>
              <a:t>04 /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698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Key numbers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627632"/>
            <a:ext cx="713232" cy="50292"/>
          </a:xfrm>
          <a:prstGeom prst="rect">
            <a:avLst/>
          </a:prstGeom>
          <a:solidFill>
            <a:srgbClr val="EE7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18211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68580" cy="1417320"/>
          </a:xfrm>
          <a:prstGeom prst="roundRect">
            <a:avLst/>
          </a:prstGeom>
          <a:solidFill>
            <a:srgbClr val="EE7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93392"/>
            <a:ext cx="27249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697787"/>
                </a:solidFill>
                <a:latin typeface="Aptos"/>
              </a:rPr>
              <a:t>TOTAL LOAN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340864"/>
            <a:ext cx="272491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0C1C30"/>
                </a:solidFill>
                <a:latin typeface="Aptos"/>
              </a:rPr>
              <a:t>$139.9M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87952" y="1828800"/>
            <a:ext cx="318211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87952" y="1828800"/>
            <a:ext cx="68580" cy="1417320"/>
          </a:xfrm>
          <a:prstGeom prst="roundRect">
            <a:avLst/>
          </a:prstGeom>
          <a:solidFill>
            <a:srgbClr val="2B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993392"/>
            <a:ext cx="27249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697787"/>
                </a:solidFill>
                <a:latin typeface="Aptos"/>
              </a:rPr>
              <a:t>TOTAL DEPOSIT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3984" y="2340864"/>
            <a:ext cx="272491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0C1C30"/>
                </a:solidFill>
                <a:latin typeface="Aptos"/>
              </a:rPr>
              <a:t>$111.49M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44383" y="1828800"/>
            <a:ext cx="318211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44383" y="1828800"/>
            <a:ext cx="68580" cy="1417320"/>
          </a:xfrm>
          <a:prstGeom prst="roundRect">
            <a:avLst/>
          </a:prstGeom>
          <a:solidFill>
            <a:srgbClr val="5BA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0415" y="1993392"/>
            <a:ext cx="27249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697787"/>
                </a:solidFill>
                <a:latin typeface="Aptos"/>
              </a:rPr>
              <a:t>TOTAL FEES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0415" y="2340864"/>
            <a:ext cx="272491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0C1C30"/>
                </a:solidFill>
                <a:latin typeface="Aptos"/>
              </a:rPr>
              <a:t>$5.17M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03320"/>
            <a:ext cx="318211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703320"/>
            <a:ext cx="68580" cy="1417320"/>
          </a:xfrm>
          <a:prstGeom prst="roundRect">
            <a:avLst/>
          </a:prstGeom>
          <a:solidFill>
            <a:srgbClr val="EE7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867911"/>
            <a:ext cx="27249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697787"/>
                </a:solidFill>
                <a:latin typeface="Aptos"/>
              </a:rPr>
              <a:t>BANK LOAN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215383"/>
            <a:ext cx="272491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0C1C30"/>
                </a:solidFill>
                <a:latin typeface="Aptos"/>
              </a:rPr>
              <a:t>$55.5M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87952" y="3703320"/>
            <a:ext cx="318211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187952" y="3703320"/>
            <a:ext cx="68580" cy="1417320"/>
          </a:xfrm>
          <a:prstGeom prst="roundRect">
            <a:avLst/>
          </a:prstGeom>
          <a:solidFill>
            <a:srgbClr val="2B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43984" y="3867911"/>
            <a:ext cx="27249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697787"/>
                </a:solidFill>
                <a:latin typeface="Aptos"/>
              </a:rPr>
              <a:t>BANK DEPOSIT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3984" y="4215383"/>
            <a:ext cx="272491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0C1C30"/>
                </a:solidFill>
                <a:latin typeface="Aptos"/>
              </a:rPr>
              <a:t>$60.18M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44383" y="3703320"/>
            <a:ext cx="318211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644383" y="3703320"/>
            <a:ext cx="68580" cy="1417320"/>
          </a:xfrm>
          <a:prstGeom prst="roundRect">
            <a:avLst/>
          </a:prstGeom>
          <a:solidFill>
            <a:srgbClr val="5BA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0415" y="3867911"/>
            <a:ext cx="27249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697787"/>
                </a:solidFill>
                <a:latin typeface="Aptos"/>
              </a:rPr>
              <a:t>BUSINESS LENDING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0415" y="4215383"/>
            <a:ext cx="272491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0C1C30"/>
                </a:solidFill>
                <a:latin typeface="Aptos"/>
              </a:rPr>
              <a:t>$83.52M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446520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B7C7D6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EE703D"/>
                </a:solidFill>
                <a:latin typeface="Aptos"/>
              </a:rPr>
              <a:t>05 /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698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C1C30"/>
                </a:solidFill>
                <a:latin typeface="Aptos"/>
              </a:rPr>
              <a:t>What the dashboard shows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188720"/>
            <a:ext cx="10515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697787"/>
                </a:solidFill>
                <a:latin typeface="Aptos"/>
              </a:rPr>
              <a:t>Selected findings retained from the supplied presentation.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" y="1627632"/>
            <a:ext cx="713232" cy="50292"/>
          </a:xfrm>
          <a:prstGeom prst="rect">
            <a:avLst/>
          </a:prstGeom>
          <a:solidFill>
            <a:srgbClr val="EE7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4922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ncome_as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039112"/>
            <a:ext cx="6053328" cy="3657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60920" y="1783080"/>
            <a:ext cx="4114800" cy="4251960"/>
          </a:xfrm>
          <a:prstGeom prst="roundRect">
            <a:avLst/>
          </a:prstGeom>
          <a:solidFill>
            <a:srgbClr val="0C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2121408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BCD0E2"/>
                </a:solidFill>
                <a:latin typeface="Aptos"/>
              </a:rPr>
              <a:t>OBSERVATIONS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633472"/>
            <a:ext cx="32918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Mid income band has the highest bank loan in the shown analysis.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3794760"/>
            <a:ext cx="3246120" cy="36576"/>
          </a:xfrm>
          <a:prstGeom prst="rect">
            <a:avLst/>
          </a:prstGeom>
          <a:solidFill>
            <a:srgbClr val="EE7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4096512"/>
            <a:ext cx="329184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DCE6EF"/>
                </a:solidFill>
                <a:latin typeface="Aptos"/>
              </a:rPr>
              <a:t>European countries show the highest bank-loan value in the nationality view, while Australian countries show the lowest.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46520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697787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E7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BCD0E2"/>
                </a:solidFill>
                <a:latin typeface="Aptos"/>
              </a:rPr>
              <a:t>FINAL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70432"/>
            <a:ext cx="7132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Aptos"/>
              </a:rPr>
              <a:t>Banking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029968"/>
            <a:ext cx="6126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D2DEE9"/>
                </a:solidFill>
                <a:latin typeface="Aptos"/>
              </a:rPr>
              <a:t>A practical Power BI dashboard for exploring banking loans, deposits and customer-level financial metrics.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1051560"/>
            <a:ext cx="3977639" cy="4343400"/>
          </a:xfrm>
          <a:prstGeom prst="roundRect">
            <a:avLst/>
          </a:prstGeom>
          <a:solidFill>
            <a:srgbClr val="18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1417320"/>
            <a:ext cx="3017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BCD0E2"/>
                </a:solidFill>
                <a:latin typeface="Aptos"/>
              </a:rPr>
              <a:t>PROJECT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8528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AAC2D6"/>
                </a:solidFill>
                <a:latin typeface="Aptos"/>
              </a:rP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8512" y="1920240"/>
            <a:ext cx="2240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ptos"/>
              </a:rPr>
              <a:t>Banking client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65176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AAC2D6"/>
                </a:solidFill>
                <a:latin typeface="Aptos"/>
              </a:rPr>
              <a:t>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8512" y="2633472"/>
            <a:ext cx="2240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ptos"/>
              </a:rPr>
              <a:t>Python EDA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3364992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AAC2D6"/>
                </a:solidFill>
                <a:latin typeface="Aptos"/>
              </a:rPr>
              <a:t>BI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3346704"/>
            <a:ext cx="2240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ptos"/>
              </a:rPr>
              <a:t>Power BI + DAX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4078224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AAC2D6"/>
                </a:solidFill>
                <a:latin typeface="Aptos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4059936"/>
            <a:ext cx="2240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ptos"/>
              </a:rPr>
              <a:t>Interactive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507492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EE703D"/>
                </a:solidFill>
                <a:latin typeface="Aptos"/>
              </a:rP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446520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B7C7D6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